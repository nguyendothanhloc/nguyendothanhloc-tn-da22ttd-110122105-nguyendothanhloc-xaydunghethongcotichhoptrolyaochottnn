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261" r:id="rId3"/>
    <p:sldId id="264" r:id="rId4"/>
    <p:sldId id="295" r:id="rId5"/>
    <p:sldId id="310" r:id="rId6"/>
    <p:sldId id="311" r:id="rId7"/>
    <p:sldId id="312" r:id="rId8"/>
    <p:sldId id="313" r:id="rId9"/>
    <p:sldId id="314" r:id="rId10"/>
    <p:sldId id="351" r:id="rId11"/>
    <p:sldId id="352" r:id="rId12"/>
    <p:sldId id="353" r:id="rId13"/>
    <p:sldId id="315" r:id="rId14"/>
    <p:sldId id="316" r:id="rId15"/>
    <p:sldId id="319" r:id="rId16"/>
    <p:sldId id="320" r:id="rId17"/>
    <p:sldId id="321" r:id="rId18"/>
    <p:sldId id="322" r:id="rId19"/>
    <p:sldId id="323" r:id="rId20"/>
    <p:sldId id="317" r:id="rId21"/>
    <p:sldId id="318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43" r:id="rId42"/>
    <p:sldId id="344" r:id="rId43"/>
    <p:sldId id="345" r:id="rId44"/>
    <p:sldId id="346" r:id="rId45"/>
    <p:sldId id="347" r:id="rId46"/>
    <p:sldId id="348" r:id="rId47"/>
    <p:sldId id="349" r:id="rId48"/>
    <p:sldId id="350" r:id="rId49"/>
    <p:sldId id="294" r:id="rId50"/>
  </p:sldIdLst>
  <p:sldSz cx="12192000" cy="6858000"/>
  <p:notesSz cx="6858000" cy="9144000"/>
  <p:custDataLst>
    <p:tags r:id="rId5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6CC0F15-0675-4A42-BD91-DA112202ED77}">
          <p14:sldIdLst>
            <p14:sldId id="261"/>
            <p14:sldId id="264"/>
            <p14:sldId id="295"/>
            <p14:sldId id="310"/>
            <p14:sldId id="311"/>
            <p14:sldId id="312"/>
            <p14:sldId id="313"/>
            <p14:sldId id="314"/>
            <p14:sldId id="351"/>
            <p14:sldId id="352"/>
            <p14:sldId id="353"/>
            <p14:sldId id="315"/>
            <p14:sldId id="316"/>
            <p14:sldId id="319"/>
            <p14:sldId id="320"/>
            <p14:sldId id="321"/>
            <p14:sldId id="322"/>
            <p14:sldId id="323"/>
            <p14:sldId id="317"/>
            <p14:sldId id="318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pos="570" userDrawn="1">
          <p15:clr>
            <a:srgbClr val="A4A3A4"/>
          </p15:clr>
        </p15:guide>
        <p15:guide id="2" orient="horz" pos="12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147"/>
    <a:srgbClr val="FF4D2F"/>
    <a:srgbClr val="D23920"/>
    <a:srgbClr val="B64D3C"/>
    <a:srgbClr val="01E1F9"/>
    <a:srgbClr val="53A2F8"/>
    <a:srgbClr val="4EA3FD"/>
    <a:srgbClr val="F7F7F7"/>
    <a:srgbClr val="0D2237"/>
    <a:srgbClr val="1A4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441" autoAdjust="0"/>
    <p:restoredTop sz="86372"/>
  </p:normalViewPr>
  <p:slideViewPr>
    <p:cSldViewPr snapToGrid="0" snapToObjects="1" showGuides="1">
      <p:cViewPr>
        <p:scale>
          <a:sx n="66" d="100"/>
          <a:sy n="66" d="100"/>
        </p:scale>
        <p:origin x="332" y="600"/>
      </p:cViewPr>
      <p:guideLst>
        <p:guide pos="570"/>
        <p:guide orient="horz" pos="12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2" d="100"/>
        <a:sy n="102" d="100"/>
      </p:scale>
      <p:origin x="0" y="-7320"/>
    </p:cViewPr>
  </p:sorterViewPr>
  <p:notesViewPr>
    <p:cSldViewPr snapToGrid="0" snapToObjects="1">
      <p:cViewPr varScale="1">
        <p:scale>
          <a:sx n="69" d="100"/>
          <a:sy n="69" d="100"/>
        </p:scale>
        <p:origin x="345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6" Type="http://schemas.openxmlformats.org/officeDocument/2006/relationships/tags" Target="tags/tag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notesMaster" Target="notesMasters/notesMaster1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2DF6A-CAEC-BC44-AA67-806316C294AD}" type="datetimeFigureOut">
              <a:rPr kumimoji="1" lang="zh-CN" altLang="en-US" smtClean="0"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</a:fld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7818F-93EC-4D44-B590-FCFD097ECD18}" type="slidenum">
              <a:rPr kumimoji="1" lang="zh-CN" altLang="en-US" smtClean="0"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</a:fld>
            <a:endParaRPr kumimoji="1" lang="zh-CN" altLang="en-US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7BFEF4A5-89D2-4C04-924D-03571E601A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5F0A5159-E94A-481E-A5B5-090A36566B2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1pPr>
    <a:lvl2pPr marL="311785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2pPr>
    <a:lvl3pPr marL="623570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3pPr>
    <a:lvl4pPr marL="935355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4pPr>
    <a:lvl5pPr marL="1246505" algn="l" defTabSz="623570" rtl="0" eaLnBrk="1" latinLnBrk="0" hangingPunct="1">
      <a:defRPr sz="820" kern="1200">
        <a:solidFill>
          <a:schemeClr val="tx1"/>
        </a:solidFill>
        <a:latin typeface="Inter" panose="02000503000000020004" charset="0"/>
        <a:ea typeface="Inter" panose="02000503000000020004" charset="0"/>
        <a:cs typeface="Inter" panose="02000503000000020004" charset="0"/>
      </a:defRPr>
    </a:lvl5pPr>
    <a:lvl6pPr marL="1558290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6pPr>
    <a:lvl7pPr marL="1870075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7pPr>
    <a:lvl8pPr marL="2181860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8pPr>
    <a:lvl9pPr marL="2493645" algn="l" defTabSz="623570" rtl="0" eaLnBrk="1" latinLnBrk="0" hangingPunct="1">
      <a:defRPr sz="82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cs typeface="Inter" panose="02000503000000020004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cs typeface="Inter" panose="0200050300000002000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734B8-645F-1148-BD1A-6D32A141822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45C54-9644-5C4F-8F3D-601E5C2C735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4604113" y="0"/>
            <a:ext cx="7587887" cy="6858000"/>
          </a:xfrm>
          <a:custGeom>
            <a:avLst/>
            <a:gdLst>
              <a:gd name="connsiteX0" fmla="*/ 208864 w 7587887"/>
              <a:gd name="connsiteY0" fmla="*/ 0 h 6858000"/>
              <a:gd name="connsiteX1" fmla="*/ 7587887 w 7587887"/>
              <a:gd name="connsiteY1" fmla="*/ 0 h 6858000"/>
              <a:gd name="connsiteX2" fmla="*/ 7587887 w 7587887"/>
              <a:gd name="connsiteY2" fmla="*/ 6858000 h 6858000"/>
              <a:gd name="connsiteX3" fmla="*/ 4098321 w 7587887"/>
              <a:gd name="connsiteY3" fmla="*/ 6858000 h 6858000"/>
              <a:gd name="connsiteX4" fmla="*/ 4527676 w 7587887"/>
              <a:gd name="connsiteY4" fmla="*/ 6204458 h 6858000"/>
              <a:gd name="connsiteX5" fmla="*/ 5020172 w 7587887"/>
              <a:gd name="connsiteY5" fmla="*/ 5655651 h 6858000"/>
              <a:gd name="connsiteX6" fmla="*/ 4885473 w 7587887"/>
              <a:gd name="connsiteY6" fmla="*/ 4759125 h 6858000"/>
              <a:gd name="connsiteX7" fmla="*/ 4081483 w 7587887"/>
              <a:gd name="connsiteY7" fmla="*/ 4277348 h 6858000"/>
              <a:gd name="connsiteX8" fmla="*/ 3412194 w 7587887"/>
              <a:gd name="connsiteY8" fmla="*/ 4105584 h 6858000"/>
              <a:gd name="connsiteX9" fmla="*/ 2595576 w 7587887"/>
              <a:gd name="connsiteY9" fmla="*/ 3171354 h 6858000"/>
              <a:gd name="connsiteX10" fmla="*/ 2241989 w 7587887"/>
              <a:gd name="connsiteY10" fmla="*/ 2446593 h 6858000"/>
              <a:gd name="connsiteX11" fmla="*/ 1113878 w 7587887"/>
              <a:gd name="connsiteY11" fmla="*/ 1834945 h 6858000"/>
              <a:gd name="connsiteX12" fmla="*/ 82583 w 7587887"/>
              <a:gd name="connsiteY12" fmla="*/ 1101805 h 6858000"/>
              <a:gd name="connsiteX13" fmla="*/ 166771 w 7587887"/>
              <a:gd name="connsiteY13" fmla="*/ 75409 h 6858000"/>
              <a:gd name="connsiteX14" fmla="*/ 208864 w 7587887"/>
              <a:gd name="connsiteY1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587887" h="6858000">
                <a:moveTo>
                  <a:pt x="208864" y="0"/>
                </a:moveTo>
                <a:cubicBezTo>
                  <a:pt x="208864" y="0"/>
                  <a:pt x="208864" y="0"/>
                  <a:pt x="7587887" y="0"/>
                </a:cubicBezTo>
                <a:lnTo>
                  <a:pt x="7587887" y="6858000"/>
                </a:lnTo>
                <a:cubicBezTo>
                  <a:pt x="7587887" y="6858000"/>
                  <a:pt x="7587887" y="6858000"/>
                  <a:pt x="4098321" y="6858000"/>
                </a:cubicBezTo>
                <a:cubicBezTo>
                  <a:pt x="4182508" y="6610827"/>
                  <a:pt x="4338255" y="6388791"/>
                  <a:pt x="4527676" y="6204458"/>
                </a:cubicBezTo>
                <a:cubicBezTo>
                  <a:pt x="4704469" y="6032694"/>
                  <a:pt x="4914938" y="5877687"/>
                  <a:pt x="5020172" y="5655651"/>
                </a:cubicBezTo>
                <a:cubicBezTo>
                  <a:pt x="5154872" y="5370774"/>
                  <a:pt x="5083313" y="5010488"/>
                  <a:pt x="4885473" y="4759125"/>
                </a:cubicBezTo>
                <a:cubicBezTo>
                  <a:pt x="4687632" y="4511953"/>
                  <a:pt x="4388767" y="4356946"/>
                  <a:pt x="4081483" y="4277348"/>
                </a:cubicBezTo>
                <a:cubicBezTo>
                  <a:pt x="3858387" y="4218697"/>
                  <a:pt x="3622662" y="4197750"/>
                  <a:pt x="3412194" y="4105584"/>
                </a:cubicBezTo>
                <a:cubicBezTo>
                  <a:pt x="3020722" y="3938009"/>
                  <a:pt x="2763951" y="3560965"/>
                  <a:pt x="2595576" y="3171354"/>
                </a:cubicBezTo>
                <a:cubicBezTo>
                  <a:pt x="2490342" y="2919992"/>
                  <a:pt x="2410364" y="2656061"/>
                  <a:pt x="2241989" y="2446593"/>
                </a:cubicBezTo>
                <a:cubicBezTo>
                  <a:pt x="1972590" y="2107254"/>
                  <a:pt x="1526396" y="1973194"/>
                  <a:pt x="1113878" y="1834945"/>
                </a:cubicBezTo>
                <a:cubicBezTo>
                  <a:pt x="705570" y="1692506"/>
                  <a:pt x="267795" y="1495606"/>
                  <a:pt x="82583" y="1101805"/>
                </a:cubicBezTo>
                <a:cubicBezTo>
                  <a:pt x="-64745" y="779223"/>
                  <a:pt x="-1604" y="389612"/>
                  <a:pt x="166771" y="75409"/>
                </a:cubicBezTo>
                <a:cubicBezTo>
                  <a:pt x="183608" y="50273"/>
                  <a:pt x="196236" y="25136"/>
                  <a:pt x="208864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1" cy="2512952"/>
          </a:xfrm>
          <a:custGeom>
            <a:avLst/>
            <a:gdLst>
              <a:gd name="connsiteX0" fmla="*/ 0 w 12192001"/>
              <a:gd name="connsiteY0" fmla="*/ 0 h 2512952"/>
              <a:gd name="connsiteX1" fmla="*/ 12192001 w 12192001"/>
              <a:gd name="connsiteY1" fmla="*/ 0 h 2512952"/>
              <a:gd name="connsiteX2" fmla="*/ 12192001 w 12192001"/>
              <a:gd name="connsiteY2" fmla="*/ 1399768 h 2512952"/>
              <a:gd name="connsiteX3" fmla="*/ 11551101 w 12192001"/>
              <a:gd name="connsiteY3" fmla="*/ 1763961 h 2512952"/>
              <a:gd name="connsiteX4" fmla="*/ 10328920 w 12192001"/>
              <a:gd name="connsiteY4" fmla="*/ 2226328 h 2512952"/>
              <a:gd name="connsiteX5" fmla="*/ 5410387 w 12192001"/>
              <a:gd name="connsiteY5" fmla="*/ 2238996 h 2512952"/>
              <a:gd name="connsiteX6" fmla="*/ 812303 w 12192001"/>
              <a:gd name="connsiteY6" fmla="*/ 902565 h 2512952"/>
              <a:gd name="connsiteX7" fmla="*/ 156499 w 12192001"/>
              <a:gd name="connsiteY7" fmla="*/ 817059 h 2512952"/>
              <a:gd name="connsiteX8" fmla="*/ 0 w 12192001"/>
              <a:gd name="connsiteY8" fmla="*/ 779056 h 2512952"/>
              <a:gd name="connsiteX9" fmla="*/ 0 w 12192001"/>
              <a:gd name="connsiteY9" fmla="*/ 0 h 2512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2512952">
                <a:moveTo>
                  <a:pt x="0" y="0"/>
                </a:moveTo>
                <a:cubicBezTo>
                  <a:pt x="0" y="0"/>
                  <a:pt x="0" y="0"/>
                  <a:pt x="12192001" y="0"/>
                </a:cubicBezTo>
                <a:cubicBezTo>
                  <a:pt x="12192001" y="0"/>
                  <a:pt x="12192001" y="0"/>
                  <a:pt x="12192001" y="1399768"/>
                </a:cubicBezTo>
                <a:cubicBezTo>
                  <a:pt x="12005692" y="1529611"/>
                  <a:pt x="11789575" y="1649953"/>
                  <a:pt x="11551101" y="1763961"/>
                </a:cubicBezTo>
                <a:cubicBezTo>
                  <a:pt x="11193389" y="1941308"/>
                  <a:pt x="10790964" y="2102819"/>
                  <a:pt x="10328920" y="2226328"/>
                </a:cubicBezTo>
                <a:cubicBezTo>
                  <a:pt x="8875717" y="2619024"/>
                  <a:pt x="6915756" y="2593688"/>
                  <a:pt x="5410387" y="2238996"/>
                </a:cubicBezTo>
                <a:cubicBezTo>
                  <a:pt x="3778328" y="1852634"/>
                  <a:pt x="2615765" y="1111580"/>
                  <a:pt x="812303" y="902565"/>
                </a:cubicBezTo>
                <a:cubicBezTo>
                  <a:pt x="588734" y="877230"/>
                  <a:pt x="357712" y="861396"/>
                  <a:pt x="156499" y="817059"/>
                </a:cubicBezTo>
                <a:cubicBezTo>
                  <a:pt x="96880" y="807558"/>
                  <a:pt x="44714" y="794891"/>
                  <a:pt x="0" y="779056"/>
                </a:cubicBezTo>
                <a:cubicBezTo>
                  <a:pt x="0" y="779056"/>
                  <a:pt x="0" y="779056"/>
                  <a:pt x="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6292395" y="1964770"/>
            <a:ext cx="5130032" cy="3698615"/>
          </a:xfrm>
          <a:custGeom>
            <a:avLst/>
            <a:gdLst>
              <a:gd name="connsiteX0" fmla="*/ 0 w 5130032"/>
              <a:gd name="connsiteY0" fmla="*/ 0 h 3698615"/>
              <a:gd name="connsiteX1" fmla="*/ 5130032 w 5130032"/>
              <a:gd name="connsiteY1" fmla="*/ 0 h 3698615"/>
              <a:gd name="connsiteX2" fmla="*/ 5130032 w 5130032"/>
              <a:gd name="connsiteY2" fmla="*/ 3698615 h 3698615"/>
              <a:gd name="connsiteX3" fmla="*/ 0 w 5130032"/>
              <a:gd name="connsiteY3" fmla="*/ 3698615 h 369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30032" h="3698615">
                <a:moveTo>
                  <a:pt x="0" y="0"/>
                </a:moveTo>
                <a:lnTo>
                  <a:pt x="5130032" y="0"/>
                </a:lnTo>
                <a:lnTo>
                  <a:pt x="5130032" y="3698615"/>
                </a:lnTo>
                <a:lnTo>
                  <a:pt x="0" y="3698615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800"/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BDE734B8-645F-1148-BD1A-6D32A141822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defRPr>
            </a:lvl1pPr>
          </a:lstStyle>
          <a:p>
            <a:fld id="{29545C54-9644-5C4F-8F3D-601E5C2C735B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350" y="0"/>
            <a:ext cx="121793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/>
          <a:stretch>
            <a:fillRect/>
          </a:stretch>
        </p:blipFill>
        <p:spPr/>
      </p:pic>
      <p:sp>
        <p:nvSpPr>
          <p:cNvPr id="40" name="Rectangle 39"/>
          <p:cNvSpPr/>
          <p:nvPr/>
        </p:nvSpPr>
        <p:spPr>
          <a:xfrm>
            <a:off x="686552" y="5657626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8" name="Freeform 5"/>
          <p:cNvSpPr/>
          <p:nvPr/>
        </p:nvSpPr>
        <p:spPr bwMode="auto">
          <a:xfrm>
            <a:off x="4539368" y="0"/>
            <a:ext cx="7652632" cy="6858000"/>
          </a:xfrm>
          <a:custGeom>
            <a:avLst/>
            <a:gdLst>
              <a:gd name="T0" fmla="*/ 1818 w 1818"/>
              <a:gd name="T1" fmla="*/ 0 h 1637"/>
              <a:gd name="T2" fmla="*/ 65 w 1818"/>
              <a:gd name="T3" fmla="*/ 0 h 1637"/>
              <a:gd name="T4" fmla="*/ 55 w 1818"/>
              <a:gd name="T5" fmla="*/ 18 h 1637"/>
              <a:gd name="T6" fmla="*/ 35 w 1818"/>
              <a:gd name="T7" fmla="*/ 263 h 1637"/>
              <a:gd name="T8" fmla="*/ 280 w 1818"/>
              <a:gd name="T9" fmla="*/ 438 h 1637"/>
              <a:gd name="T10" fmla="*/ 548 w 1818"/>
              <a:gd name="T11" fmla="*/ 584 h 1637"/>
              <a:gd name="T12" fmla="*/ 632 w 1818"/>
              <a:gd name="T13" fmla="*/ 757 h 1637"/>
              <a:gd name="T14" fmla="*/ 826 w 1818"/>
              <a:gd name="T15" fmla="*/ 980 h 1637"/>
              <a:gd name="T16" fmla="*/ 985 w 1818"/>
              <a:gd name="T17" fmla="*/ 1021 h 1637"/>
              <a:gd name="T18" fmla="*/ 1176 w 1818"/>
              <a:gd name="T19" fmla="*/ 1136 h 1637"/>
              <a:gd name="T20" fmla="*/ 1208 w 1818"/>
              <a:gd name="T21" fmla="*/ 1350 h 1637"/>
              <a:gd name="T22" fmla="*/ 1091 w 1818"/>
              <a:gd name="T23" fmla="*/ 1481 h 1637"/>
              <a:gd name="T24" fmla="*/ 989 w 1818"/>
              <a:gd name="T25" fmla="*/ 1637 h 1637"/>
              <a:gd name="T26" fmla="*/ 1818 w 1818"/>
              <a:gd name="T27" fmla="*/ 1637 h 1637"/>
              <a:gd name="T28" fmla="*/ 1818 w 1818"/>
              <a:gd name="T29" fmla="*/ 0 h 1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18" h="1637">
                <a:moveTo>
                  <a:pt x="1818" y="0"/>
                </a:moveTo>
                <a:cubicBezTo>
                  <a:pt x="65" y="0"/>
                  <a:pt x="65" y="0"/>
                  <a:pt x="65" y="0"/>
                </a:cubicBezTo>
                <a:cubicBezTo>
                  <a:pt x="62" y="6"/>
                  <a:pt x="59" y="12"/>
                  <a:pt x="55" y="18"/>
                </a:cubicBezTo>
                <a:cubicBezTo>
                  <a:pt x="15" y="93"/>
                  <a:pt x="0" y="186"/>
                  <a:pt x="35" y="263"/>
                </a:cubicBezTo>
                <a:cubicBezTo>
                  <a:pt x="79" y="357"/>
                  <a:pt x="183" y="404"/>
                  <a:pt x="280" y="438"/>
                </a:cubicBezTo>
                <a:cubicBezTo>
                  <a:pt x="378" y="471"/>
                  <a:pt x="484" y="503"/>
                  <a:pt x="548" y="584"/>
                </a:cubicBezTo>
                <a:cubicBezTo>
                  <a:pt x="588" y="634"/>
                  <a:pt x="607" y="697"/>
                  <a:pt x="632" y="757"/>
                </a:cubicBezTo>
                <a:cubicBezTo>
                  <a:pt x="672" y="850"/>
                  <a:pt x="733" y="940"/>
                  <a:pt x="826" y="980"/>
                </a:cubicBezTo>
                <a:cubicBezTo>
                  <a:pt x="876" y="1002"/>
                  <a:pt x="932" y="1007"/>
                  <a:pt x="985" y="1021"/>
                </a:cubicBezTo>
                <a:cubicBezTo>
                  <a:pt x="1058" y="1040"/>
                  <a:pt x="1129" y="1077"/>
                  <a:pt x="1176" y="1136"/>
                </a:cubicBezTo>
                <a:cubicBezTo>
                  <a:pt x="1223" y="1196"/>
                  <a:pt x="1240" y="1282"/>
                  <a:pt x="1208" y="1350"/>
                </a:cubicBezTo>
                <a:cubicBezTo>
                  <a:pt x="1183" y="1403"/>
                  <a:pt x="1133" y="1440"/>
                  <a:pt x="1091" y="1481"/>
                </a:cubicBezTo>
                <a:cubicBezTo>
                  <a:pt x="1046" y="1525"/>
                  <a:pt x="1009" y="1578"/>
                  <a:pt x="989" y="1637"/>
                </a:cubicBezTo>
                <a:cubicBezTo>
                  <a:pt x="1818" y="1637"/>
                  <a:pt x="1818" y="1637"/>
                  <a:pt x="1818" y="1637"/>
                </a:cubicBezTo>
                <a:lnTo>
                  <a:pt x="1818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1621" y="5722696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845334" y="5866279"/>
            <a:ext cx="1" cy="991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327025" y="1854200"/>
            <a:ext cx="6560185" cy="255333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vi-VN" altLang="zh-CN" sz="4000" b="1" dirty="0">
                <a:solidFill>
                  <a:schemeClr val="accent1"/>
                </a:solidFill>
                <a:latin typeface="Inter Black" panose="02000503000000020004" charset="0"/>
                <a:ea typeface="+mj-ea"/>
                <a:cs typeface="Inter Black" panose="02000503000000020004" charset="0"/>
              </a:rPr>
              <a:t>XÂY DỰNG HỆ THỐNG</a:t>
            </a:r>
            <a:r>
              <a:rPr kumimoji="1" lang="en-US" altLang="zh-CN" sz="4000" b="1" dirty="0">
                <a:solidFill>
                  <a:schemeClr val="accent1"/>
                </a:solidFill>
                <a:latin typeface="Inter Black" panose="02000503000000020004" charset="0"/>
                <a:ea typeface="+mj-ea"/>
                <a:cs typeface="Inter Black" panose="02000503000000020004" charset="0"/>
              </a:rPr>
              <a:t> </a:t>
            </a:r>
            <a:endParaRPr kumimoji="1" lang="en-US" altLang="zh-CN" sz="4000" b="1" dirty="0">
              <a:solidFill>
                <a:schemeClr val="accent1"/>
              </a:solidFill>
              <a:latin typeface="Inter Black" panose="02000503000000020004" charset="0"/>
              <a:ea typeface="+mj-ea"/>
              <a:cs typeface="Inter Black" panose="02000503000000020004" charset="0"/>
            </a:endParaRPr>
          </a:p>
          <a:p>
            <a:pPr>
              <a:lnSpc>
                <a:spcPct val="100000"/>
              </a:lnSpc>
            </a:pPr>
            <a:r>
              <a:rPr kumimoji="1" lang="vi-VN" altLang="zh-CN" sz="4000" b="1" dirty="0">
                <a:latin typeface="Inter Black" panose="02000503000000020004" charset="0"/>
                <a:ea typeface="+mj-ea"/>
                <a:cs typeface="Inter Black" panose="02000503000000020004" charset="0"/>
              </a:rPr>
              <a:t>QUẢN LÝ CÁC KHÓA HỌC CHO MỘT TRUNG TÂM NGOẠI NGỮ</a:t>
            </a:r>
            <a:endParaRPr kumimoji="1" lang="vi-VN" altLang="zh-CN" sz="4000" b="1" dirty="0">
              <a:latin typeface="Inter Black" panose="02000503000000020004" charset="0"/>
              <a:ea typeface="+mj-ea"/>
              <a:cs typeface="Inter Black" panose="0200050300000002000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4045" y="4796155"/>
            <a:ext cx="7681595" cy="681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vi-V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Sinh viên thực hiện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vi-V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Nguyễn Đỗ Thành Lộc - 110122105 - DA22TTD - Khóa 2022</a:t>
            </a:r>
            <a:endParaRPr kumimoji="1" lang="en-US" altLang="zh-C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kumimoji="1" lang="vi-VN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Giảng viên hướng dẫn</a:t>
            </a:r>
            <a:r>
              <a:rPr kumimoji="1" lang="zh-C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1" lang="vi-V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Võ Thành </a:t>
            </a:r>
            <a:r>
              <a:rPr kumimoji="1" lang="vi-VN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vi-V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735" y="497840"/>
            <a:ext cx="3818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Trường Kỹ thuật và Công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9735" y="1067435"/>
            <a:ext cx="3818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ĐỒ ÁN TÔT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5"/>
          <p:cNvSpPr txBox="1"/>
          <p:nvPr/>
        </p:nvSpPr>
        <p:spPr>
          <a:xfrm>
            <a:off x="3486020" y="667078"/>
            <a:ext cx="52199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zh-CN" sz="3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Nội dung</a:t>
            </a:r>
            <a:endParaRPr lang="vi-VN" altLang="zh-CN" sz="3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97706" y="1403683"/>
            <a:ext cx="2062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Lý do chọn đề tài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091242" y="2470821"/>
            <a:ext cx="18669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Cơ sở lý thuyết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97880" y="2998672"/>
            <a:ext cx="16922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Phương pháp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2" name="文本框 47"/>
          <p:cNvSpPr txBox="1"/>
          <p:nvPr/>
        </p:nvSpPr>
        <p:spPr>
          <a:xfrm>
            <a:off x="1098024" y="1942798"/>
            <a:ext cx="23545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Mục tiêu và phạm vi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文本框 60"/>
          <p:cNvSpPr txBox="1"/>
          <p:nvPr/>
        </p:nvSpPr>
        <p:spPr>
          <a:xfrm>
            <a:off x="1090895" y="3537787"/>
            <a:ext cx="1021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Kết quả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文本框 60"/>
          <p:cNvSpPr txBox="1"/>
          <p:nvPr/>
        </p:nvSpPr>
        <p:spPr>
          <a:xfrm>
            <a:off x="1085815" y="4071187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Hạn </a:t>
            </a:r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chế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文本框 60"/>
          <p:cNvSpPr txBox="1"/>
          <p:nvPr/>
        </p:nvSpPr>
        <p:spPr>
          <a:xfrm>
            <a:off x="1077560" y="4604587"/>
            <a:ext cx="20605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phát </a:t>
            </a:r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triển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85410" y="2260066"/>
            <a:ext cx="515937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 Lý do chọn đề tài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7671" y="1403683"/>
            <a:ext cx="2941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1.Lý do chọn đề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tài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ong những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 gần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ây, nhu cầu học ngoại ngữ ngày càng gia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ng, kéo theo sự phát triển của nhiều trung tâm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ào tạo với số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ợng học viên và khóa học ngày càng lớn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Bên cạnh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ó, học viên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ờng có nhu cầu tìm kiếm thông tin về khóa học, học phí, lịch học và các quy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ịnh của trung tâm bất cứ lúc nào. Xuất phát từ thực tế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xây dựng hệ thống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các khóa học có tích hợp trợ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cho một trung tâm ngoại ngữ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nhằm nâng cao hiệu quả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tự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ộng hóa quá trình hỗ trợ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ời dùng và cải thiện chất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ợng dịch vụ của trung tâm ngoại ngữ.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584200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Mục tiêu và phạm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80181" y="1403683"/>
            <a:ext cx="3416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2. Mục tiêu và phạm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ến việc xây dựng một hệ thống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các khóa học trên nền tảng web, hỗ trợ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viên, giảng viên, khóa học, lớp học,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k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và kết quả học tập.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ồng thời, hệ thống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tích hợp trợ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AI nhằm hỗ trợ học viên tra cứu thông tin và giải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các câu hỏi th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ờng gặp. Phạm vi nghiên cứu tập trung vào ba nhóm ng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ời dùng gồm quản trị viên, giảng viên và học viên, cùng với chức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trợ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phục vụ nhu cầu hỗ trợ và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vấn thông tin.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470408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Cơ sở lý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thuyết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05301" y="1403683"/>
            <a:ext cx="27660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 Cơ sở lý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thuyết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Đề tài được xây dựng dựa trên các kiến thức về hệ thống thông tin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ý, chatbot và xử lý ngôn ngữ tự nhiên. Hệ thống áp dụng mô hình FAQ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Frequently Asked Questions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kết hợp với Gemini AI, trong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 chatbot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 tiên tìm kiếm câu trả lời từ cơ sở dữ liệu FAQ 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ớc khi gửi yêu cầu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ến Gemini AI nếu ch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 có thông tin phù hợp. Về mặt công nghệ, hệ thống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phát triển bằng Laravel Framework theo mô hình MVC, sử dụng PHP làm ngôn ngữ lập trình, MySQL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cơ sở dữ liệu và Gemini API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ể tích hợp khả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xử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ngôn ngữ tự nhiên.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120" y="511175"/>
            <a:ext cx="5464810" cy="56229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53390" y="887730"/>
            <a:ext cx="457073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vi-VN" altLang="en-US" sz="1600"/>
              <a:t>Student/Teacher/</a:t>
            </a:r>
            <a:r>
              <a:rPr lang="vi-VN" altLang="en-US" sz="1600"/>
              <a:t>Admin đ</a:t>
            </a:r>
            <a:r>
              <a:rPr lang="en-US" altLang="en-US" sz="1600"/>
              <a:t>ây là các </a:t>
            </a:r>
            <a:r>
              <a:rPr lang="" altLang="en-US" sz="1600"/>
              <a:t>đ</a:t>
            </a:r>
            <a:r>
              <a:rPr lang="en-US" altLang="en-US" sz="1600"/>
              <a:t>ối t</a:t>
            </a:r>
            <a:r>
              <a:rPr lang="" altLang="en-US" sz="1600"/>
              <a:t>ư</a:t>
            </a:r>
            <a:r>
              <a:rPr lang="en-US" altLang="en-US" sz="1600"/>
              <a:t>ợng sử dụng hệ thống, gồm học viên, giáo viên và quản trị viên. Mỗi nhóm ng</a:t>
            </a:r>
            <a:r>
              <a:rPr lang="" altLang="en-US" sz="1600"/>
              <a:t>ư</a:t>
            </a:r>
            <a:r>
              <a:rPr lang="en-US" altLang="en-US" sz="1600"/>
              <a:t>ời dùng có quyền truy cập và chức n</a:t>
            </a:r>
            <a:r>
              <a:rPr lang="" altLang="en-US" sz="1600"/>
              <a:t>ă</a:t>
            </a:r>
            <a:r>
              <a:rPr lang="en-US" altLang="en-US" sz="1600"/>
              <a:t>ng khác nhau nh</a:t>
            </a:r>
            <a:r>
              <a:rPr lang="" altLang="en-US" sz="1600"/>
              <a:t>ư đă</a:t>
            </a:r>
            <a:r>
              <a:rPr lang="en-US" altLang="en-US" sz="1600"/>
              <a:t>ng nhập, quản l</a:t>
            </a:r>
            <a:r>
              <a:rPr lang="" altLang="en-US" sz="1600"/>
              <a:t>ý </a:t>
            </a:r>
            <a:r>
              <a:rPr lang="en-US" altLang="en-US" sz="1600"/>
              <a:t>khóa học, xem thông tin, hoặc trao </a:t>
            </a:r>
            <a:r>
              <a:rPr lang="" altLang="en-US" sz="1600"/>
              <a:t>đ</a:t>
            </a:r>
            <a:r>
              <a:rPr lang="en-US" altLang="en-US" sz="1600"/>
              <a:t>ổi với chatbot AI.</a:t>
            </a:r>
            <a:endParaRPr lang="en-US" altLang="en-US" sz="1600"/>
          </a:p>
          <a:p>
            <a:endParaRPr lang="en-US" altLang="en-US" sz="1600"/>
          </a:p>
          <a:p>
            <a:pPr indent="0" fontAlgn="auto">
              <a:lnSpc>
                <a:spcPct val="150000"/>
              </a:lnSpc>
            </a:pPr>
            <a:r>
              <a:rPr lang="en-US" altLang="en-US" sz="1600"/>
              <a:t>Browser (Trình duyệt)</a:t>
            </a:r>
            <a:r>
              <a:rPr lang="vi-VN" altLang="en-US" sz="1600"/>
              <a:t>:</a:t>
            </a:r>
            <a:r>
              <a:rPr lang="en-US" altLang="en-US" sz="1600"/>
              <a:t> là giao diện mà ng</a:t>
            </a:r>
            <a:r>
              <a:rPr lang="" altLang="en-US" sz="1600"/>
              <a:t>ư</a:t>
            </a:r>
            <a:r>
              <a:rPr lang="en-US" altLang="en-US" sz="1600"/>
              <a:t>ời dùng sử dụng </a:t>
            </a:r>
            <a:r>
              <a:rPr lang="" altLang="en-US" sz="1600"/>
              <a:t>đ</a:t>
            </a:r>
            <a:r>
              <a:rPr lang="en-US" altLang="en-US" sz="1600"/>
              <a:t>ể truy cập hệ thống thông qua các trình duyệt nh</a:t>
            </a:r>
            <a:r>
              <a:rPr lang="" altLang="en-US" sz="1600"/>
              <a:t>ư </a:t>
            </a:r>
            <a:r>
              <a:rPr lang="en-US" altLang="en-US" sz="1600"/>
              <a:t>Chrome, Edge hoặc Firefox. Trình duyệt có nhiệm vụ gửi các yêu cầu của ng</a:t>
            </a:r>
            <a:r>
              <a:rPr lang="" altLang="en-US" sz="1600"/>
              <a:t>ư</a:t>
            </a:r>
            <a:r>
              <a:rPr lang="en-US" altLang="en-US" sz="1600"/>
              <a:t>ời dùng </a:t>
            </a:r>
            <a:r>
              <a:rPr lang="" altLang="en-US" sz="1600"/>
              <a:t>đ</a:t>
            </a:r>
            <a:r>
              <a:rPr lang="en-US" altLang="en-US" sz="1600"/>
              <a:t>ến máy chủ và hiển thị kết quả trả về.</a:t>
            </a:r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120" y="511175"/>
            <a:ext cx="5464810" cy="56229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53390" y="887730"/>
            <a:ext cx="45707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/>
              <a:t>Web Server (Máy chủ Web)</a:t>
            </a:r>
            <a:r>
              <a:rPr lang="vi-VN" altLang="en-US" sz="1600"/>
              <a:t>: </a:t>
            </a:r>
            <a:r>
              <a:rPr lang="en-US" altLang="en-US" sz="1600"/>
              <a:t>tiếp nhận các yêu cầu từ trình duyệt, xử l</a:t>
            </a:r>
            <a:r>
              <a:rPr lang="" altLang="en-US" sz="1600"/>
              <a:t>ý </a:t>
            </a:r>
            <a:r>
              <a:rPr lang="en-US" altLang="en-US" sz="1600"/>
              <a:t>kết nối với ứng dụng Laravel và chuyển yêu cầu </a:t>
            </a:r>
            <a:r>
              <a:rPr lang="" altLang="en-US" sz="1600"/>
              <a:t>đ</a:t>
            </a:r>
            <a:r>
              <a:rPr lang="en-US" altLang="en-US" sz="1600"/>
              <a:t>ến Controller. Sau khi hệ thống xử l</a:t>
            </a:r>
            <a:r>
              <a:rPr lang="" altLang="en-US" sz="1600"/>
              <a:t>ý </a:t>
            </a:r>
            <a:r>
              <a:rPr lang="en-US" altLang="en-US" sz="1600"/>
              <a:t>xong, Web Server gửi kết quả trở lại trình duyệt </a:t>
            </a:r>
            <a:r>
              <a:rPr lang="" altLang="en-US" sz="1600"/>
              <a:t>đ</a:t>
            </a:r>
            <a:r>
              <a:rPr lang="en-US" altLang="en-US" sz="1600"/>
              <a:t>ể hiển thị cho ng</a:t>
            </a:r>
            <a:r>
              <a:rPr lang="" altLang="en-US" sz="1600"/>
              <a:t>ư</a:t>
            </a:r>
            <a:r>
              <a:rPr lang="en-US" altLang="en-US" sz="1600"/>
              <a:t>ời dùng.</a:t>
            </a:r>
            <a:endParaRPr lang="en-US" altLang="en-US" sz="1600"/>
          </a:p>
          <a:p>
            <a:pPr indent="0" fontAlgn="auto">
              <a:lnSpc>
                <a:spcPct val="150000"/>
              </a:lnSpc>
            </a:pPr>
            <a:endParaRPr lang="en-US" altLang="en-US" sz="1600"/>
          </a:p>
          <a:p>
            <a:pPr indent="0" fontAlgn="auto">
              <a:lnSpc>
                <a:spcPct val="150000"/>
              </a:lnSpc>
            </a:pPr>
            <a:r>
              <a:rPr lang="en-US" altLang="en-US" sz="1600"/>
              <a:t>Controller (Bộ </a:t>
            </a:r>
            <a:r>
              <a:rPr lang="" altLang="en-US" sz="1600"/>
              <a:t>đ</a:t>
            </a:r>
            <a:r>
              <a:rPr lang="en-US" altLang="en-US" sz="1600"/>
              <a:t>iều khiển) là trung tâm xử l</a:t>
            </a:r>
            <a:r>
              <a:rPr lang="" altLang="en-US" sz="1600"/>
              <a:t>ý </a:t>
            </a:r>
            <a:r>
              <a:rPr lang="en-US" altLang="en-US" sz="1600"/>
              <a:t>của hệ thống.</a:t>
            </a:r>
            <a:r>
              <a:rPr lang="vi-VN" altLang="en-US" sz="1600"/>
              <a:t> T</a:t>
            </a:r>
            <a:r>
              <a:rPr lang="en-US" altLang="en-US" sz="1600"/>
              <a:t>iếp nhận yêu cầu từ Web Server, kiểm tra dữ liệu </a:t>
            </a:r>
            <a:r>
              <a:rPr lang="" altLang="en-US" sz="1600"/>
              <a:t>đ</a:t>
            </a:r>
            <a:r>
              <a:rPr lang="en-US" altLang="en-US" sz="1600"/>
              <a:t>ầu vào và quyết </a:t>
            </a:r>
            <a:r>
              <a:rPr lang="" altLang="en-US" sz="1600"/>
              <a:t>đ</a:t>
            </a:r>
            <a:r>
              <a:rPr lang="en-US" altLang="en-US" sz="1600"/>
              <a:t>ịnh cách xử l</a:t>
            </a:r>
            <a:r>
              <a:rPr lang="" altLang="en-US" sz="1600"/>
              <a:t>ý.</a:t>
            </a:r>
            <a:endParaRPr lang="" altLang="en-US" sz="1600"/>
          </a:p>
          <a:p>
            <a:pPr indent="0" fontAlgn="auto">
              <a:lnSpc>
                <a:spcPct val="150000"/>
              </a:lnSpc>
            </a:pPr>
            <a:endParaRPr lang="" altLang="en-US" sz="1600"/>
          </a:p>
          <a:p>
            <a:pPr indent="0" fontAlgn="auto">
              <a:lnSpc>
                <a:spcPct val="150000"/>
              </a:lnSpc>
            </a:pPr>
            <a:r>
              <a:rPr lang="en-US" altLang="en-US" sz="1600"/>
              <a:t>Model (Xử l</a:t>
            </a:r>
            <a:r>
              <a:rPr lang="" altLang="en-US" sz="1600"/>
              <a:t>ý </a:t>
            </a:r>
            <a:r>
              <a:rPr lang="en-US" altLang="en-US" sz="1600"/>
              <a:t>dữ liệu)</a:t>
            </a:r>
            <a:r>
              <a:rPr lang="vi-VN" altLang="en-US" sz="1600"/>
              <a:t>:</a:t>
            </a:r>
            <a:r>
              <a:rPr lang="en-US" altLang="en-US" sz="1600"/>
              <a:t> là thành phần làm việc trực tiếp với cơ sở dữ liệu. Nó thực hiện các thao tác nh</a:t>
            </a:r>
            <a:r>
              <a:rPr lang="" altLang="en-US" sz="1600"/>
              <a:t>ư:</a:t>
            </a:r>
            <a:r>
              <a:rPr lang="vi-VN" sz="1600"/>
              <a:t> l</a:t>
            </a:r>
            <a:r>
              <a:rPr lang="en-US" altLang="en-US" sz="1600"/>
              <a:t>ấy thông tin học viên</a:t>
            </a:r>
            <a:r>
              <a:rPr lang="vi-VN" altLang="en-US" sz="1600"/>
              <a:t>, q</a:t>
            </a:r>
            <a:r>
              <a:rPr lang="en-US" altLang="en-US" sz="1600"/>
              <a:t>uản l</a:t>
            </a:r>
            <a:r>
              <a:rPr lang="" altLang="en-US" sz="1600"/>
              <a:t>ý </a:t>
            </a:r>
            <a:r>
              <a:rPr lang="en-US" altLang="en-US" sz="1600"/>
              <a:t>khóa học</a:t>
            </a:r>
            <a:r>
              <a:rPr lang="vi-VN" altLang="en-US" sz="1600"/>
              <a:t>, q</a:t>
            </a:r>
            <a:r>
              <a:rPr lang="en-US" altLang="en-US" sz="1600"/>
              <a:t>uản l</a:t>
            </a:r>
            <a:r>
              <a:rPr lang="" altLang="en-US" sz="1600"/>
              <a:t>ý </a:t>
            </a:r>
            <a:r>
              <a:rPr lang="en-US" altLang="en-US" sz="1600"/>
              <a:t>lớp học</a:t>
            </a:r>
            <a:r>
              <a:rPr lang="vi-VN" altLang="en-US" sz="1600"/>
              <a:t>, l</a:t>
            </a:r>
            <a:r>
              <a:rPr lang="" altLang="en-US" sz="1600"/>
              <a:t>ư</a:t>
            </a:r>
            <a:r>
              <a:rPr lang="en-US" altLang="en-US" sz="1600"/>
              <a:t>u lịch sử trò chuyện</a:t>
            </a:r>
            <a:r>
              <a:rPr lang="vi-VN" altLang="en-US" sz="1600"/>
              <a:t>, t</a:t>
            </a:r>
            <a:r>
              <a:rPr lang="en-US" altLang="en-US" sz="1600"/>
              <a:t>hêm, sửa, xóa dữ liệu.</a:t>
            </a:r>
            <a:endParaRPr lang="en-US" alt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120" y="511175"/>
            <a:ext cx="5464810" cy="56229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53390" y="887730"/>
            <a:ext cx="457073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/>
              <a:t>MySQL (Cơ sở dữ liệu)</a:t>
            </a:r>
            <a:r>
              <a:rPr lang="vi-VN" altLang="en-US" sz="1600"/>
              <a:t>: </a:t>
            </a:r>
            <a:r>
              <a:rPr lang="en-US" altLang="en-US" sz="1600"/>
              <a:t>l</a:t>
            </a:r>
            <a:r>
              <a:rPr lang="" altLang="en-US" sz="1600"/>
              <a:t>ư</a:t>
            </a:r>
            <a:r>
              <a:rPr lang="en-US" altLang="en-US" sz="1600"/>
              <a:t>u trữ toàn bộ dữ liệu của hệ thống</a:t>
            </a:r>
            <a:r>
              <a:rPr lang="vi-VN" altLang="en-US" sz="1600"/>
              <a:t>.</a:t>
            </a:r>
            <a:endParaRPr lang="vi-VN" altLang="en-US" sz="1600"/>
          </a:p>
          <a:p>
            <a:pPr indent="0" fontAlgn="auto">
              <a:lnSpc>
                <a:spcPct val="150000"/>
              </a:lnSpc>
            </a:pPr>
            <a:r>
              <a:rPr lang="en-US" altLang="en-US" sz="1600"/>
              <a:t>Gemini API (Trí tuệ nhân tạo)</a:t>
            </a:r>
            <a:r>
              <a:rPr lang="vi-VN" altLang="en-US" sz="1600"/>
              <a:t>:</a:t>
            </a:r>
            <a:r>
              <a:rPr lang="en-US" altLang="en-US" sz="1600"/>
              <a:t> cung cấp khả n</a:t>
            </a:r>
            <a:r>
              <a:rPr lang="" altLang="en-US" sz="1600"/>
              <a:t>ă</a:t>
            </a:r>
            <a:r>
              <a:rPr lang="en-US" altLang="en-US" sz="1600"/>
              <a:t>ng xử l</a:t>
            </a:r>
            <a:r>
              <a:rPr lang="" altLang="en-US" sz="1600"/>
              <a:t>ý </a:t>
            </a:r>
            <a:r>
              <a:rPr lang="en-US" altLang="en-US" sz="1600"/>
              <a:t>ngôn ngữ tự nhiên cho chatbot. Khi ng</a:t>
            </a:r>
            <a:r>
              <a:rPr lang="" altLang="en-US" sz="1600"/>
              <a:t>ư</a:t>
            </a:r>
            <a:r>
              <a:rPr lang="en-US" altLang="en-US" sz="1600"/>
              <a:t>ời dùng </a:t>
            </a:r>
            <a:r>
              <a:rPr lang="" altLang="en-US" sz="1600"/>
              <a:t>đ</a:t>
            </a:r>
            <a:r>
              <a:rPr lang="en-US" altLang="en-US" sz="1600"/>
              <a:t>ặt câu hỏi, Controller sẽ gửi nội dung </a:t>
            </a:r>
            <a:r>
              <a:rPr lang="" altLang="en-US" sz="1600"/>
              <a:t>đ</a:t>
            </a:r>
            <a:r>
              <a:rPr lang="en-US" altLang="en-US" sz="1600"/>
              <a:t>ến Gemini API. AI sẽ phân tích câu hỏi, sinh câu trả lời và gửi lại cho Controller, sau </a:t>
            </a:r>
            <a:r>
              <a:rPr lang="" altLang="en-US" sz="1600"/>
              <a:t>đ</a:t>
            </a:r>
            <a:r>
              <a:rPr lang="en-US" altLang="en-US" sz="1600"/>
              <a:t>ó hiển thị kết quả cho ng</a:t>
            </a:r>
            <a:r>
              <a:rPr lang="" altLang="en-US" sz="1600"/>
              <a:t>ư</a:t>
            </a:r>
            <a:r>
              <a:rPr lang="en-US" altLang="en-US" sz="1600"/>
              <a:t>ời dùng.</a:t>
            </a:r>
            <a:endParaRPr lang="en-US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4295140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Phương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pháp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22141" y="1403683"/>
            <a:ext cx="25323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4. Phương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pháp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Quá trình thực hiện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tài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triển khai thông qua các b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ớc khảo sát nhu cầu thực tế, phân tích yêu cầu nghiệp vụ, thiết kế hệ thống và cơ sở dữ liệu, sau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 tiến hành xây dựng ứng dụng bằng Laravel. Sau khi hoàn thành các chức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hệ thống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tích hợp trợ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AI và tiến hành kiểm thử nhằm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ánh giá tính chính xác, khả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hoạt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ộng c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ũ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nh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mức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ứng các yêu cầu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ã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ề ra.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10221" y="728678"/>
            <a:ext cx="19329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Sơ đồ Use Case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655320" y="1564005"/>
            <a:ext cx="3871595" cy="4219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Hệ thống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ợc xây dựng với 4 tác nhân chính gồm Khách, Học viên, Giáo viên và Quản trị viên. Mỗi tác nhân sẽ có những chức n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riêng phù hợp với quyền hạn của mình.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iểm nổi bật của hệ thống là chức n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Chat với chatbot AI,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ợc tích hợp cơ chế kết hợp giữa FAQ và Gemini AI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ể nâng cao khả n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hỗ trợ ng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ời dùng.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7150" y="1449070"/>
            <a:ext cx="6521450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01574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Classes (Lớp học)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dùng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các lớp học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ợc mở tại trung tâm. Mỗi lớp sẽ có nhiều lịch học và nhiều bài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giá, vì vậy bảng này liên kết với bảng Schedules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(Lịch học)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và Assessments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(Bài đánh giá)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Schedules (Lịch học)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về các buổi học của từng lớp nh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ngày học, thời gian và trạng thái buổi học. Mỗi lịch học thuộc về một lớp và có thể phát sinh nhiều bản ghi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 của học viên.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915" y="1564005"/>
            <a:ext cx="7087870" cy="4498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5475" y="626364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Nhóm học tập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01574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Attendances (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danh) dùng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tình trạng tham gia học của học viên trong từng buổi học. Bảng này liên kết giữa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Schedules (Lịch học)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và Students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(Học sinh)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ồng thời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trạng thái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 nh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có mặt, vắng mặt hoặc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 trễ.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Students (Học viên)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của học viên. Trong sơ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ồ này, học viên sẽ liên kết với bảng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Attendances (Điểm danh)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ý 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danh và bảng Assessment Scores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(Kết quả đánh giá)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quản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kết quả học tập.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915" y="1564005"/>
            <a:ext cx="7087870" cy="4498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5475" y="626364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Nhóm học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01574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Assessments (Bài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giá)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các bài kiểm tra của từng lớp nh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bài kiểm tra giữa kỳ, cuối kỳ, bài tập hoặc kỹ n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ng nói, nghe. Mỗi lớp có thể có nhiều bài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 khác nhau.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Assessment Scores (Kết quả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ánh giá)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số và nhận xét của học viên cho từng bài kiểm tra. Bảng này liên kết giữa Students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(Học si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nh)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và Assessments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(Bài đánh giá)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, giúp theo 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õ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 kết quả học tập của từng học viên.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915" y="1564005"/>
            <a:ext cx="7087870" cy="449834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75475" y="6263640"/>
            <a:ext cx="2204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Nhóm học </a:t>
            </a: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tập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98145" y="1518285"/>
            <a:ext cx="4108450" cy="2200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Students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thông tin học viên sử dụng chatbot. Mỗi học viên có thể tạo nhiều cuộc hội thoại với chatbot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ể hỏi về lịch học,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iểm số, học phí.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Conversations(Cuộc hội 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thoại), q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uản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các phiên chat giữa học viên và chatbot. Mỗi cuộc hội thoại ghi nhận thời gian bắt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ầu, tin nhắn cuối cùng và tổng số tin nhắn.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Bảng Messages(Tin nhắn) l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u trữ từng tin nhắn trong cuộc hội thoại. Phân biệt ng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ời gửi (học viên hoặc bot), nội dung tin nhắn và thời gian</a:t>
            </a:r>
            <a:r>
              <a:rPr lang="vi-VN" altLang="en-US" sz="1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gửi.</a:t>
            </a:r>
            <a:endParaRPr lang="en-US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975475" y="6263640"/>
            <a:ext cx="3181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ERD H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ệ thống Chatbot AI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3885" y="1667510"/>
            <a:ext cx="7202170" cy="43827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图片 127"/>
          <p:cNvPicPr>
            <a:picLocks noChangeAspect="1"/>
          </p:cNvPicPr>
          <p:nvPr/>
        </p:nvPicPr>
        <p:blipFill>
          <a:blip r:embed="rId1"/>
          <a:srcRect l="2237" t="2672" r="2237" b="6267"/>
          <a:stretch>
            <a:fillRect/>
          </a:stretch>
        </p:blipFill>
        <p:spPr>
          <a:xfrm>
            <a:off x="5744687" y="1251815"/>
            <a:ext cx="7250019" cy="6250014"/>
          </a:xfrm>
          <a:custGeom>
            <a:avLst/>
            <a:gdLst>
              <a:gd name="connsiteX0" fmla="*/ 1562504 w 7250019"/>
              <a:gd name="connsiteY0" fmla="*/ 0 h 6250014"/>
              <a:gd name="connsiteX1" fmla="*/ 5687515 w 7250019"/>
              <a:gd name="connsiteY1" fmla="*/ 0 h 6250014"/>
              <a:gd name="connsiteX2" fmla="*/ 7250019 w 7250019"/>
              <a:gd name="connsiteY2" fmla="*/ 3125007 h 6250014"/>
              <a:gd name="connsiteX3" fmla="*/ 5687515 w 7250019"/>
              <a:gd name="connsiteY3" fmla="*/ 6250014 h 6250014"/>
              <a:gd name="connsiteX4" fmla="*/ 1562504 w 7250019"/>
              <a:gd name="connsiteY4" fmla="*/ 6250014 h 6250014"/>
              <a:gd name="connsiteX5" fmla="*/ 0 w 7250019"/>
              <a:gd name="connsiteY5" fmla="*/ 3125007 h 625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50019" h="6250014">
                <a:moveTo>
                  <a:pt x="1562504" y="0"/>
                </a:moveTo>
                <a:lnTo>
                  <a:pt x="5687515" y="0"/>
                </a:lnTo>
                <a:lnTo>
                  <a:pt x="7250019" y="3125007"/>
                </a:lnTo>
                <a:lnTo>
                  <a:pt x="5687515" y="6250014"/>
                </a:lnTo>
                <a:lnTo>
                  <a:pt x="1562504" y="6250014"/>
                </a:lnTo>
                <a:lnTo>
                  <a:pt x="0" y="3125007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105" name="Rectangle 39"/>
          <p:cNvSpPr/>
          <p:nvPr/>
        </p:nvSpPr>
        <p:spPr>
          <a:xfrm>
            <a:off x="1423022" y="3960332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10" name="Rectangle 38"/>
          <p:cNvSpPr/>
          <p:nvPr/>
        </p:nvSpPr>
        <p:spPr>
          <a:xfrm>
            <a:off x="1488091" y="4025402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113" name="Straight Connector 41"/>
          <p:cNvCxnSpPr/>
          <p:nvPr/>
        </p:nvCxnSpPr>
        <p:spPr>
          <a:xfrm>
            <a:off x="1584986" y="4277898"/>
            <a:ext cx="0" cy="2645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六边形 126"/>
          <p:cNvSpPr/>
          <p:nvPr/>
        </p:nvSpPr>
        <p:spPr>
          <a:xfrm>
            <a:off x="5744687" y="1251814"/>
            <a:ext cx="7250019" cy="6250016"/>
          </a:xfrm>
          <a:prstGeom prst="hexagon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1"/>
              </a:solidFill>
              <a:cs typeface="Inter" panose="02000503000000020004" charset="0"/>
            </a:endParaRPr>
          </a:p>
        </p:txBody>
      </p:sp>
      <p:sp>
        <p:nvSpPr>
          <p:cNvPr id="129" name="Freeform: Shape 31"/>
          <p:cNvSpPr/>
          <p:nvPr/>
        </p:nvSpPr>
        <p:spPr>
          <a:xfrm>
            <a:off x="5507547" y="2888402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0" name="Oval 32"/>
          <p:cNvSpPr/>
          <p:nvPr/>
        </p:nvSpPr>
        <p:spPr>
          <a:xfrm>
            <a:off x="7337535" y="2765739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1" name="Oval 33"/>
          <p:cNvSpPr/>
          <p:nvPr/>
        </p:nvSpPr>
        <p:spPr>
          <a:xfrm>
            <a:off x="5384884" y="526361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132" name="Oval 34"/>
          <p:cNvSpPr/>
          <p:nvPr/>
        </p:nvSpPr>
        <p:spPr>
          <a:xfrm>
            <a:off x="8421696" y="4592164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" name="文本框 101"/>
          <p:cNvSpPr txBox="1"/>
          <p:nvPr/>
        </p:nvSpPr>
        <p:spPr>
          <a:xfrm>
            <a:off x="579695" y="2290546"/>
            <a:ext cx="2731135" cy="737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5. Kết </a:t>
            </a:r>
            <a:r>
              <a:rPr lang="vi-VN" altLang="zh-CN" sz="42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quả</a:t>
            </a:r>
            <a:endParaRPr lang="vi-VN" altLang="zh-CN" sz="42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468864" y="1403683"/>
            <a:ext cx="163893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5. Kết </a:t>
            </a:r>
            <a:r>
              <a:rPr lang="vi-VN" altLang="zh-CN" sz="24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quả</a:t>
            </a:r>
            <a:endParaRPr lang="vi-VN" altLang="zh-CN" sz="24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33450" y="1931670"/>
            <a:ext cx="10896600" cy="26797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Kết quả nghiên cứu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ã xây dựng thành công hệ thống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các khóa học hoạt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ộng trên nền tảng web,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ứng các chức n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viên, giảng viên, khóa học, lớp học,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k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học và quản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iểm. Bên cạnh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ó, hệ thống còn tích hợp trợ l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ảo AI hỗ trợ giải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áp các câu hỏi của học viên. Chatbot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ợc thiết kế theo cơ chế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u tiên tìm kiếm dữ liệu trong FAQ tr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ớc khi sử dụng Gemini AI, giúp 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ng tốc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ộ phản hồi, giảm chi phí sử dụng dịch vụ AI và 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ảm bảo tính thống nhất của thông tin do trung tâm cung cấp.</a:t>
            </a: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43534" y="662003"/>
            <a:ext cx="34436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Giao diện khách chưa đăng nhập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170" y="1352550"/>
            <a:ext cx="9217660" cy="432244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77520" y="589613"/>
            <a:ext cx="219011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đăng nhập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7555" y="1225550"/>
            <a:ext cx="78206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06742" y="589613"/>
            <a:ext cx="19316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đăng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ký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7165" y="1076325"/>
            <a:ext cx="6571615" cy="51079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400342" y="589613"/>
            <a:ext cx="27444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trang chủ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admin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5435" y="1215390"/>
            <a:ext cx="9494520" cy="42741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61290" y="589613"/>
            <a:ext cx="28225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1440815"/>
            <a:ext cx="9298305" cy="39947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61290" y="589613"/>
            <a:ext cx="282257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1450" y="1440815"/>
            <a:ext cx="9298305" cy="39947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64172" y="589613"/>
            <a:ext cx="24168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tạo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8490" y="1156970"/>
            <a:ext cx="8415655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435585" y="589613"/>
            <a:ext cx="26739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lớp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0" y="5348453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925" y="1163955"/>
            <a:ext cx="8618220" cy="45796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38467" y="589613"/>
            <a:ext cx="226822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lớp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820" y="1351280"/>
            <a:ext cx="6043295" cy="35540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0" y="1351280"/>
            <a:ext cx="5288915" cy="35623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66687" y="589613"/>
            <a:ext cx="28117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50" y="1125855"/>
            <a:ext cx="10185400" cy="46882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095542" y="589613"/>
            <a:ext cx="33540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tạo tài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khoản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965" y="1131570"/>
            <a:ext cx="7711440" cy="52146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394945" y="589613"/>
            <a:ext cx="27552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475" y="1159510"/>
            <a:ext cx="9447530" cy="50184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190792" y="589613"/>
            <a:ext cx="31635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xem chi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tiết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023620"/>
            <a:ext cx="8613140" cy="48818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186347" y="589613"/>
            <a:ext cx="317246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quản lý FAQ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Chatbot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735" y="1313815"/>
            <a:ext cx="10185400" cy="42303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33082" y="589613"/>
            <a:ext cx="207899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025" y="1195070"/>
            <a:ext cx="9754235" cy="45491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3791695" y="589613"/>
            <a:ext cx="396176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chi tiết lớp học của giáo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020" y="1000125"/>
            <a:ext cx="9073515" cy="51282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82600" y="589613"/>
            <a:ext cx="21799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điểm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danh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285" y="1166495"/>
            <a:ext cx="10171430" cy="431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659422" y="589613"/>
            <a:ext cx="222631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chấm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điểm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315" y="1586230"/>
            <a:ext cx="9691370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80365" y="589613"/>
            <a:ext cx="238442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xem lịch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dạy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85" y="1353185"/>
            <a:ext cx="9805670" cy="41516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287630" y="589613"/>
            <a:ext cx="29698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trang chủ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viên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1205230"/>
            <a:ext cx="9568180" cy="45288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44830" y="589613"/>
            <a:ext cx="20554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060" y="1167765"/>
            <a:ext cx="10065385" cy="484441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69887" y="589613"/>
            <a:ext cx="24053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chi khóa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0" y="1064895"/>
            <a:ext cx="9808845" cy="480949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19125" y="589613"/>
            <a:ext cx="19069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lớp 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" y="1236980"/>
            <a:ext cx="9827895" cy="446532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06742" y="589613"/>
            <a:ext cx="19316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lịch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095" y="1308735"/>
            <a:ext cx="9147810" cy="423989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06742" y="589613"/>
            <a:ext cx="193167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Giao diện lịch </a:t>
            </a:r>
            <a:r>
              <a:rPr lang="vi-VN" altLang="zh-CN" sz="1600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học</a:t>
            </a:r>
            <a:endParaRPr lang="vi-VN" altLang="zh-CN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215" y="1082675"/>
            <a:ext cx="3556000" cy="52514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745" y="1082675"/>
            <a:ext cx="3295015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236637" y="742013"/>
            <a:ext cx="1071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Hạn chế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8530" y="1767840"/>
            <a:ext cx="9418955" cy="133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Giới hạn ngữ cảnh: Chatbot không ghi nhớ lịch sử hội thoại tr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ớc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vi-VN" altLang="en-US" sz="160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 mỗi câu hỏi là 1 phiên riêng biệt</a:t>
            </a:r>
            <a:r>
              <a:rPr lang="vi-VN" altLang="en-US" sz="16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Giới hạn ngôn ngữ: Chỉ hỗ trợ tiếng Việt</a:t>
            </a:r>
            <a:r>
              <a:rPr lang="vi-VN" altLang="en-US" sz="160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Chatbot vẫn có thể trả lời ch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 chính xác với câu hỏi ngoài phạm vi dữ liệu.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Ch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 triển khai trên môi tr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ờng thực tế với số l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ợng ng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ời dùng lớn.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5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Inter" panose="020005030000000200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742290" y="742013"/>
            <a:ext cx="20605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Hướng phát </a:t>
            </a:r>
            <a:r>
              <a:rPr lang="vi-VN" altLang="zh-CN" b="1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triển</a:t>
            </a:r>
            <a:endParaRPr lang="vi-VN" altLang="zh-CN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4" name="Freeform 5"/>
          <p:cNvSpPr/>
          <p:nvPr/>
        </p:nvSpPr>
        <p:spPr bwMode="auto">
          <a:xfrm flipH="1">
            <a:off x="-337820" y="6012028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65" name="Freeform 5"/>
          <p:cNvSpPr/>
          <p:nvPr/>
        </p:nvSpPr>
        <p:spPr bwMode="auto">
          <a:xfrm>
            <a:off x="9847940" y="5348454"/>
            <a:ext cx="2344060" cy="1509546"/>
          </a:xfrm>
          <a:custGeom>
            <a:avLst/>
            <a:gdLst>
              <a:gd name="T0" fmla="*/ 981 w 999"/>
              <a:gd name="T1" fmla="*/ 56 h 886"/>
              <a:gd name="T2" fmla="*/ 736 w 999"/>
              <a:gd name="T3" fmla="*/ 36 h 886"/>
              <a:gd name="T4" fmla="*/ 561 w 999"/>
              <a:gd name="T5" fmla="*/ 281 h 886"/>
              <a:gd name="T6" fmla="*/ 415 w 999"/>
              <a:gd name="T7" fmla="*/ 549 h 886"/>
              <a:gd name="T8" fmla="*/ 243 w 999"/>
              <a:gd name="T9" fmla="*/ 633 h 886"/>
              <a:gd name="T10" fmla="*/ 19 w 999"/>
              <a:gd name="T11" fmla="*/ 827 h 886"/>
              <a:gd name="T12" fmla="*/ 0 w 999"/>
              <a:gd name="T13" fmla="*/ 886 h 886"/>
              <a:gd name="T14" fmla="*/ 999 w 999"/>
              <a:gd name="T15" fmla="*/ 886 h 886"/>
              <a:gd name="T16" fmla="*/ 999 w 999"/>
              <a:gd name="T17" fmla="*/ 66 h 886"/>
              <a:gd name="T18" fmla="*/ 981 w 999"/>
              <a:gd name="T19" fmla="*/ 56 h 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99" h="886">
                <a:moveTo>
                  <a:pt x="981" y="56"/>
                </a:moveTo>
                <a:cubicBezTo>
                  <a:pt x="906" y="16"/>
                  <a:pt x="813" y="0"/>
                  <a:pt x="736" y="36"/>
                </a:cubicBezTo>
                <a:cubicBezTo>
                  <a:pt x="642" y="79"/>
                  <a:pt x="595" y="183"/>
                  <a:pt x="561" y="281"/>
                </a:cubicBezTo>
                <a:cubicBezTo>
                  <a:pt x="528" y="379"/>
                  <a:pt x="496" y="484"/>
                  <a:pt x="415" y="549"/>
                </a:cubicBezTo>
                <a:cubicBezTo>
                  <a:pt x="365" y="589"/>
                  <a:pt x="302" y="608"/>
                  <a:pt x="243" y="633"/>
                </a:cubicBezTo>
                <a:cubicBezTo>
                  <a:pt x="150" y="672"/>
                  <a:pt x="59" y="734"/>
                  <a:pt x="19" y="827"/>
                </a:cubicBezTo>
                <a:cubicBezTo>
                  <a:pt x="11" y="846"/>
                  <a:pt x="5" y="866"/>
                  <a:pt x="0" y="886"/>
                </a:cubicBezTo>
                <a:cubicBezTo>
                  <a:pt x="999" y="886"/>
                  <a:pt x="999" y="886"/>
                  <a:pt x="999" y="886"/>
                </a:cubicBezTo>
                <a:cubicBezTo>
                  <a:pt x="999" y="66"/>
                  <a:pt x="999" y="66"/>
                  <a:pt x="999" y="66"/>
                </a:cubicBezTo>
                <a:cubicBezTo>
                  <a:pt x="993" y="62"/>
                  <a:pt x="987" y="59"/>
                  <a:pt x="981" y="5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8530" y="1767840"/>
            <a:ext cx="9418955" cy="1334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Trong t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ơng lai, hệ thống có thể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ợc phát triển bằng cách mở rộng nguồn dữ liệu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ể nâng cao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ộ chính xác của chatbot, tích hợp dữ liệu thời gian thực nh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lịch học, học phí và kết quả học tập nhằm cung cấp thông tin cập nhật cho học viên.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ồng thời, có thể bổ sung các tính n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ng AI nâng cao nh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ghi nhớ ngữ cảnh hội thoại và hỗ trợ giọng nói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ể cải thiện trải nghiệm ng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ời dùng.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/>
          <p:cNvPicPr>
            <a:picLocks noGrp="1" noChangeAspect="1"/>
          </p:cNvPicPr>
          <p:nvPr>
            <p:ph type="pic" sz="quarter" idx="10"/>
          </p:nvPr>
        </p:nvPicPr>
        <p:blipFill>
          <a:blip r:embed="rId1"/>
          <a:srcRect/>
          <a:stretch>
            <a:fillRect/>
          </a:stretch>
        </p:blipFill>
        <p:spPr/>
      </p:pic>
      <p:sp>
        <p:nvSpPr>
          <p:cNvPr id="40" name="Rectangle 39"/>
          <p:cNvSpPr/>
          <p:nvPr/>
        </p:nvSpPr>
        <p:spPr>
          <a:xfrm>
            <a:off x="686552" y="5657626"/>
            <a:ext cx="317565" cy="317565"/>
          </a:xfrm>
          <a:prstGeom prst="rect">
            <a:avLst/>
          </a:prstGeom>
          <a:solidFill>
            <a:schemeClr val="accent1"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28" name="Freeform 5"/>
          <p:cNvSpPr/>
          <p:nvPr/>
        </p:nvSpPr>
        <p:spPr bwMode="auto">
          <a:xfrm>
            <a:off x="4539368" y="0"/>
            <a:ext cx="7652632" cy="6858000"/>
          </a:xfrm>
          <a:custGeom>
            <a:avLst/>
            <a:gdLst>
              <a:gd name="T0" fmla="*/ 1818 w 1818"/>
              <a:gd name="T1" fmla="*/ 0 h 1637"/>
              <a:gd name="T2" fmla="*/ 65 w 1818"/>
              <a:gd name="T3" fmla="*/ 0 h 1637"/>
              <a:gd name="T4" fmla="*/ 55 w 1818"/>
              <a:gd name="T5" fmla="*/ 18 h 1637"/>
              <a:gd name="T6" fmla="*/ 35 w 1818"/>
              <a:gd name="T7" fmla="*/ 263 h 1637"/>
              <a:gd name="T8" fmla="*/ 280 w 1818"/>
              <a:gd name="T9" fmla="*/ 438 h 1637"/>
              <a:gd name="T10" fmla="*/ 548 w 1818"/>
              <a:gd name="T11" fmla="*/ 584 h 1637"/>
              <a:gd name="T12" fmla="*/ 632 w 1818"/>
              <a:gd name="T13" fmla="*/ 757 h 1637"/>
              <a:gd name="T14" fmla="*/ 826 w 1818"/>
              <a:gd name="T15" fmla="*/ 980 h 1637"/>
              <a:gd name="T16" fmla="*/ 985 w 1818"/>
              <a:gd name="T17" fmla="*/ 1021 h 1637"/>
              <a:gd name="T18" fmla="*/ 1176 w 1818"/>
              <a:gd name="T19" fmla="*/ 1136 h 1637"/>
              <a:gd name="T20" fmla="*/ 1208 w 1818"/>
              <a:gd name="T21" fmla="*/ 1350 h 1637"/>
              <a:gd name="T22" fmla="*/ 1091 w 1818"/>
              <a:gd name="T23" fmla="*/ 1481 h 1637"/>
              <a:gd name="T24" fmla="*/ 989 w 1818"/>
              <a:gd name="T25" fmla="*/ 1637 h 1637"/>
              <a:gd name="T26" fmla="*/ 1818 w 1818"/>
              <a:gd name="T27" fmla="*/ 1637 h 1637"/>
              <a:gd name="T28" fmla="*/ 1818 w 1818"/>
              <a:gd name="T29" fmla="*/ 0 h 16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18" h="1637">
                <a:moveTo>
                  <a:pt x="1818" y="0"/>
                </a:moveTo>
                <a:cubicBezTo>
                  <a:pt x="65" y="0"/>
                  <a:pt x="65" y="0"/>
                  <a:pt x="65" y="0"/>
                </a:cubicBezTo>
                <a:cubicBezTo>
                  <a:pt x="62" y="6"/>
                  <a:pt x="59" y="12"/>
                  <a:pt x="55" y="18"/>
                </a:cubicBezTo>
                <a:cubicBezTo>
                  <a:pt x="15" y="93"/>
                  <a:pt x="0" y="186"/>
                  <a:pt x="35" y="263"/>
                </a:cubicBezTo>
                <a:cubicBezTo>
                  <a:pt x="79" y="357"/>
                  <a:pt x="183" y="404"/>
                  <a:pt x="280" y="438"/>
                </a:cubicBezTo>
                <a:cubicBezTo>
                  <a:pt x="378" y="471"/>
                  <a:pt x="484" y="503"/>
                  <a:pt x="548" y="584"/>
                </a:cubicBezTo>
                <a:cubicBezTo>
                  <a:pt x="588" y="634"/>
                  <a:pt x="607" y="697"/>
                  <a:pt x="632" y="757"/>
                </a:cubicBezTo>
                <a:cubicBezTo>
                  <a:pt x="672" y="850"/>
                  <a:pt x="733" y="940"/>
                  <a:pt x="826" y="980"/>
                </a:cubicBezTo>
                <a:cubicBezTo>
                  <a:pt x="876" y="1002"/>
                  <a:pt x="932" y="1007"/>
                  <a:pt x="985" y="1021"/>
                </a:cubicBezTo>
                <a:cubicBezTo>
                  <a:pt x="1058" y="1040"/>
                  <a:pt x="1129" y="1077"/>
                  <a:pt x="1176" y="1136"/>
                </a:cubicBezTo>
                <a:cubicBezTo>
                  <a:pt x="1223" y="1196"/>
                  <a:pt x="1240" y="1282"/>
                  <a:pt x="1208" y="1350"/>
                </a:cubicBezTo>
                <a:cubicBezTo>
                  <a:pt x="1183" y="1403"/>
                  <a:pt x="1133" y="1440"/>
                  <a:pt x="1091" y="1481"/>
                </a:cubicBezTo>
                <a:cubicBezTo>
                  <a:pt x="1046" y="1525"/>
                  <a:pt x="1009" y="1578"/>
                  <a:pt x="989" y="1637"/>
                </a:cubicBezTo>
                <a:cubicBezTo>
                  <a:pt x="1818" y="1637"/>
                  <a:pt x="1818" y="1637"/>
                  <a:pt x="1818" y="1637"/>
                </a:cubicBezTo>
                <a:lnTo>
                  <a:pt x="1818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>
                  <a:lumMod val="75000"/>
                  <a:alpha val="9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ID">
              <a:cs typeface="Inter" panose="02000503000000020004" charset="0"/>
            </a:endParaRPr>
          </a:p>
        </p:txBody>
      </p:sp>
      <p:sp>
        <p:nvSpPr>
          <p:cNvPr id="32" name="Freeform: Shape 31"/>
          <p:cNvSpPr/>
          <p:nvPr/>
        </p:nvSpPr>
        <p:spPr>
          <a:xfrm>
            <a:off x="6568068" y="2877015"/>
            <a:ext cx="3010830" cy="2497873"/>
          </a:xfrm>
          <a:custGeom>
            <a:avLst/>
            <a:gdLst>
              <a:gd name="connsiteX0" fmla="*/ 1973766 w 3010830"/>
              <a:gd name="connsiteY0" fmla="*/ 0 h 2497873"/>
              <a:gd name="connsiteX1" fmla="*/ 0 w 3010830"/>
              <a:gd name="connsiteY1" fmla="*/ 2497873 h 2497873"/>
              <a:gd name="connsiteX2" fmla="*/ 3010830 w 3010830"/>
              <a:gd name="connsiteY2" fmla="*/ 1761892 h 2497873"/>
              <a:gd name="connsiteX3" fmla="*/ 1973766 w 3010830"/>
              <a:gd name="connsiteY3" fmla="*/ 0 h 2497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0830" h="2497873">
                <a:moveTo>
                  <a:pt x="1973766" y="0"/>
                </a:moveTo>
                <a:lnTo>
                  <a:pt x="0" y="2497873"/>
                </a:lnTo>
                <a:lnTo>
                  <a:pt x="3010830" y="1761892"/>
                </a:lnTo>
                <a:lnTo>
                  <a:pt x="1973766" y="0"/>
                </a:lnTo>
                <a:close/>
              </a:path>
            </a:pathLst>
          </a:cu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398056" y="2754352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445405" y="5252225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9482217" y="4580777"/>
            <a:ext cx="245326" cy="245326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01600" dist="50800" dir="540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1621" y="5722696"/>
            <a:ext cx="187426" cy="1874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Inter" panose="02000503000000020004" charset="0"/>
            </a:endParaRPr>
          </a:p>
        </p:txBody>
      </p:sp>
      <p:cxnSp>
        <p:nvCxnSpPr>
          <p:cNvPr id="42" name="Straight Connector 41"/>
          <p:cNvCxnSpPr/>
          <p:nvPr/>
        </p:nvCxnSpPr>
        <p:spPr>
          <a:xfrm>
            <a:off x="845334" y="5866279"/>
            <a:ext cx="1" cy="991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583914" y="1615023"/>
            <a:ext cx="5976282" cy="304609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kumimoji="1" lang="zh-CN" altLang="en-US" sz="9600" b="1" dirty="0">
                <a:latin typeface="Inter Black" panose="02000503000000020004" charset="0"/>
                <a:ea typeface="+mj-ea"/>
                <a:cs typeface="Inter Black" panose="02000503000000020004" charset="0"/>
              </a:rPr>
              <a:t>THANK </a:t>
            </a:r>
            <a:endParaRPr kumimoji="1" lang="zh-CN" altLang="en-US" sz="9600" b="1" dirty="0">
              <a:latin typeface="Inter Black" panose="02000503000000020004" charset="0"/>
              <a:ea typeface="+mj-ea"/>
              <a:cs typeface="Inter Black" panose="02000503000000020004" charset="0"/>
            </a:endParaRPr>
          </a:p>
          <a:p>
            <a:pPr>
              <a:lnSpc>
                <a:spcPct val="100000"/>
              </a:lnSpc>
            </a:pPr>
            <a:r>
              <a:rPr kumimoji="1" lang="zh-CN" altLang="en-US" sz="9600" b="1" dirty="0">
                <a:solidFill>
                  <a:schemeClr val="accent1"/>
                </a:solidFill>
                <a:latin typeface="Inter Black" panose="02000503000000020004" charset="0"/>
                <a:ea typeface="+mj-ea"/>
                <a:cs typeface="Inter Black" panose="02000503000000020004" charset="0"/>
              </a:rPr>
              <a:t>YOU</a:t>
            </a:r>
            <a:endParaRPr kumimoji="1" lang="zh-CN" altLang="en-US" sz="9600" b="1" dirty="0">
              <a:solidFill>
                <a:schemeClr val="accent1"/>
              </a:solidFill>
              <a:latin typeface="Inter Black" panose="02000503000000020004" charset="0"/>
              <a:ea typeface="+mj-ea"/>
              <a:cs typeface="Inter Black" panose="020005030000000200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b5574968-1ab4-4b18-88ad-6170a953f078"/>
  <p:tag name="COMMONDATA" val="eyJoZGlkIjoiMmNmYmEwOWQ4Y2Q0M2IxMGZkNjI4ZjhkZDQyNzg1OTYifQ=="/>
</p:tagLst>
</file>

<file path=ppt/theme/theme1.xml><?xml version="1.0" encoding="utf-8"?>
<a:theme xmlns:a="http://schemas.openxmlformats.org/drawingml/2006/main" name="Office Theme">
  <a:themeElements>
    <a:clrScheme name="宏格沃兹学院（浅）">
      <a:dk1>
        <a:srgbClr val="000000"/>
      </a:dk1>
      <a:lt1>
        <a:srgbClr val="FFFFFF"/>
      </a:lt1>
      <a:dk2>
        <a:srgbClr val="001326"/>
      </a:dk2>
      <a:lt2>
        <a:srgbClr val="E7E6E6"/>
      </a:lt2>
      <a:accent1>
        <a:srgbClr val="007FFE"/>
      </a:accent1>
      <a:accent2>
        <a:srgbClr val="19C065"/>
      </a:accent2>
      <a:accent3>
        <a:srgbClr val="F0BD00"/>
      </a:accent3>
      <a:accent4>
        <a:srgbClr val="F12200"/>
      </a:accent4>
      <a:accent5>
        <a:srgbClr val="E002BB"/>
      </a:accent5>
      <a:accent6>
        <a:srgbClr val="A5A5A5"/>
      </a:accent6>
      <a:hlink>
        <a:srgbClr val="007FFE"/>
      </a:hlink>
      <a:folHlink>
        <a:srgbClr val="F20000"/>
      </a:folHlink>
    </a:clrScheme>
    <a:fontScheme name="自定义 23">
      <a:majorFont>
        <a:latin typeface="Inter"/>
        <a:ea typeface="Inter"/>
        <a:cs typeface=""/>
      </a:majorFont>
      <a:minorFont>
        <a:latin typeface="Inter"/>
        <a:ea typeface="Inter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>
                <a:alpha val="85000"/>
              </a:schemeClr>
            </a:gs>
            <a:gs pos="100000">
              <a:schemeClr val="accent1">
                <a:lumMod val="75000"/>
              </a:schemeClr>
            </a:gs>
          </a:gsLst>
          <a:lin ang="42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Inter"/>
        <a:font script="Hebr" typeface="Inte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Inter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Inter"/>
        <a:font script="Hebr" typeface="Inter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7767</Words>
  <Application>WPS Presentation</Application>
  <PresentationFormat>宽屏</PresentationFormat>
  <Paragraphs>164</Paragraphs>
  <Slides>48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57" baseType="lpstr">
      <vt:lpstr>Arial</vt:lpstr>
      <vt:lpstr>SimSun</vt:lpstr>
      <vt:lpstr>Wingdings</vt:lpstr>
      <vt:lpstr>Inter</vt:lpstr>
      <vt:lpstr>Corbel</vt:lpstr>
      <vt:lpstr>Inter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thuma39467</dc:creator>
  <cp:lastModifiedBy>Thành Lộc Nguyễn Đỗ</cp:lastModifiedBy>
  <cp:revision>345</cp:revision>
  <cp:lastPrinted>2016-11-16T14:45:00Z</cp:lastPrinted>
  <dcterms:created xsi:type="dcterms:W3CDTF">2016-07-23T12:48:00Z</dcterms:created>
  <dcterms:modified xsi:type="dcterms:W3CDTF">2026-07-10T09:17:15Z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7E4737DB335240CEAF2F7269FDBEC28E_11</vt:lpwstr>
  </property>
</Properties>
</file>